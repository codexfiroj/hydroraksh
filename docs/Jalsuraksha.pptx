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charts/chart1.xml" ContentType="application/vnd.openxmlformats-officedocument.drawingml.chart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4.xml" ContentType="application/vnd.openxmlformats-officedocument.presentationml.slide+xml"/>
</ns0: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6" ns1:id="rId2"/>
    <ns0:sldId id="257" ns1:id="rId3"/>
    <ns0:sldId id="258" ns1:id="rId4"/>
    <ns0:sldId id="259" ns1:id="rId5"/>
    <ns0:sldId id="260" ns1:id="rId6"/>
    <ns0:sldId id="261" ns1:id="rId7"/>
    <ns0:sldId id="262" ns1:id="rId8"/>
    <ns0:sldId id="263" ns1:id="rId9"/>
    <ns0:sldId id="264" ns1:id="rId10"/>
    <ns0:sldId id="265" ns1:id="rId11"/>
    <ns0:sldId id="266" ns1:id="rId12"/>
    <ns0:sldId id="267" ns1:id="rId13"/>
    <ns0:sldId id="268" ns1:id="rId14"/>
    <ns0:sldId id="269" ns1:id="rId20"/>
  </ns0:sldIdLst>
  <ns0:notesMasterIdLst>
    <ns0:notesMasterId ns1:id="rId15"/>
  </ns0:notesMasterIdLst>
  <ns0:sldSz cx="9144000" cy="5143500"/>
  <ns0:notesSz cx="5143500" cy="9144000"/>
  <ns0:defaultTextStyle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ns0:Relationship Id="rId5" Type="http://schemas.openxmlformats.org/officeDocument/2006/relationships/slide" Target="slides/slide4.xml" /><ns0:Relationship Id="rId6" Type="http://schemas.openxmlformats.org/officeDocument/2006/relationships/slide" Target="slides/slide5.xml" /><ns0:Relationship Id="rId7" Type="http://schemas.openxmlformats.org/officeDocument/2006/relationships/slide" Target="slides/slide6.xml" /><ns0:Relationship Id="rId8" Type="http://schemas.openxmlformats.org/officeDocument/2006/relationships/slide" Target="slides/slide7.xml" /><ns0:Relationship Id="rId9" Type="http://schemas.openxmlformats.org/officeDocument/2006/relationships/slide" Target="slides/slide8.xml" /><ns0:Relationship Id="rId10" Type="http://schemas.openxmlformats.org/officeDocument/2006/relationships/slide" Target="slides/slide9.xml" /><ns0:Relationship Id="rId11" Type="http://schemas.openxmlformats.org/officeDocument/2006/relationships/slide" Target="slides/slide10.xml" /><ns0:Relationship Id="rId12" Type="http://schemas.openxmlformats.org/officeDocument/2006/relationships/slide" Target="slides/slide11.xml" /><ns0:Relationship Id="rId13" Type="http://schemas.openxmlformats.org/officeDocument/2006/relationships/slide" Target="slides/slide12.xml" /><ns0:Relationship Id="rId14" Type="http://schemas.openxmlformats.org/officeDocument/2006/relationships/slide" Target="slides/slide13.xml" /><ns0:Relationship Id="rId15" Type="http://schemas.openxmlformats.org/officeDocument/2006/relationships/notesMaster" Target="notesMasters/notesMaster1.xml" /><ns0:Relationship Id="rId16" Type="http://schemas.openxmlformats.org/officeDocument/2006/relationships/presProps" Target="presProps.xml" /><ns0:Relationship Id="rId17" Type="http://schemas.openxmlformats.org/officeDocument/2006/relationships/viewProps" Target="viewProps.xml" /><ns0:Relationship Id="rId18" Type="http://schemas.openxmlformats.org/officeDocument/2006/relationships/theme" Target="theme/theme1.xml" /><ns0:Relationship Id="rId19" Type="http://schemas.openxmlformats.org/officeDocument/2006/relationships/tableStyles" Target="tableStyles.xml" /><ns0:Relationship Id="rId20" Type="http://schemas.openxmlformats.org/officeDocument/2006/relationships/slide" Target="slides/slide14.xml" /></ns0: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Arial"/>
              </a:rPr>
              <a:t>Water-table forecast MAE (m), 4-fold rolling-origin CV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(m)</c:v>
                </c:pt>
              </c:strCache>
            </c:strRef>
          </c:tx>
          <c:spPr>
            <a:solidFill>
              <a:srgbClr val="9A9A9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9A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16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16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B161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Naive persistence</c:v>
                  </c:pt>
                  <c:pt idx="1">
                    <c:v>Ridge regression</c:v>
                  </c:pt>
                  <c:pt idx="2">
                    <c:v>Gradient boosting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29.851</c:v>
                </c:pt>
                <c:pt idx="1">
                  <c:v>3.851</c:v>
                </c:pt>
                <c:pt idx="2">
                  <c:v>4.015</c:v>
                </c:pt>
                <c:pt idx="3">
                  <c:v>4.054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7B16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07992"/>
            <a:ext cx="9144000" cy="635508"/>
          </a:xfrm>
          <a:prstGeom prst="rect">
            <a:avLst/>
          </a:prstGeom>
          <a:solidFill>
            <a:srgbClr val="7B161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6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solidFill>
            <a:srgbClr val="7B1616"/>
          </a:solidFill>
          <a:ln/>
        </p:spPr>
      </p:sp>
      <p:pic>
        <p:nvPicPr>
          <p:cNvPr id="4" name="Image 0" descr="a/logo_h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73152"/>
            <a:ext cx="2240280" cy="518465"/>
          </a:xfrm>
          <a:prstGeom prst="rect">
            <a:avLst/>
          </a:prstGeom>
        </p:spPr>
      </p:pic>
      <p:sp>
        <p:nvSpPr>
          <p:cNvPr id="5" name="Text 2"/>
          <p:cNvSpPr/>
          <p:nvPr>
            <p:ph idx="103" type="title" hasCustomPrompt="1"/>
          </p:nvPr>
        </p:nvSpPr>
        <p:spPr>
          <a:xfrm>
            <a:off x="182880" y="54864"/>
            <a:ext cx="62179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diagram-2.png"/><Relationship Id="rIdSVG" Type="http://schemas.openxmlformats.org/officeDocument/2006/relationships/image" Target="../media/diagram-2.sv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diagram-3.png"/><Relationship Id="rIdSVG" Type="http://schemas.openxmlformats.org/officeDocument/2006/relationships/image" Target="../media/diagram-3.sv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JalSuraksha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Groundwater Intelligence System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0515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3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29/10/2026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52928" y="1389888"/>
            <a:ext cx="3721608" cy="13716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 Work Phase-I (EAI753)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CSE(Data Science)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Guide: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Ajay Rastogi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E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 Khan(TCA2366003)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E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Mohd Shami(TCA2366017)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E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Firoj (TCA2366010)</a:t>
            </a:r>
            <a:endParaRPr lang="en-US" sz="1300" dirty="0"/>
          </a:p>
        </p:txBody>
      </p:sp>
      <p:pic>
        <p:nvPicPr>
          <p:cNvPr id="10" name="Image 0" descr="a/logo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926080"/>
            <a:ext cx="914400" cy="8229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COMPUTING SCIENCES AND 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TEERTHANKER MAHAVEER UNIVERSITY, MORADABAD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182880" y="5486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04672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JalSuraksha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(HydroRaksh) is an AI-powered groundwater intelligence and decision-support platform for India. It combines groundwater, rainfall, and water-quality data from CGWB, IMD, India-WRIS, and CWC to forecast groundwater levels, flag water-stress risk, and recommend recharge and conservation actions. It covers 36 States/UTs and 700+ districts.</a:t>
            </a:r>
            <a:endParaRPr lang="en-US" sz="1200" dirty="0"/>
          </a:p>
        </p:txBody>
      </p:sp>
      <p:pic>
        <p:nvPicPr>
          <p:cNvPr id="4" name="SVG Diagram 2" descr="JalSuraksha Architecture Diagram"/>
          <p:cNvPicPr>
            <a:picLocks noChangeAspect="1"/>
          </p:cNvPicPr>
          <p:nvPr/>
        </p:nvPicPr>
        <p:blipFill>
          <a:blip r:embed="rId1">
            <a:extLst>
              <a:ext uri="{96DAC542-7B16-430E-8262-CEDBF546BC51}">
                <asvg:svgBlip xmlns:asvg="http://schemas.microsoft.com/office/drawing/2016/svg/main" r:embed="rIdSVG"/>
              </a:ext>
            </a:extLst>
          </a:blip>
          <a:stretch>
            <a:fillRect/>
          </a:stretch>
        </p:blipFill>
        <p:spPr>
          <a:xfrm>
            <a:off x="1463040" y="1700000"/>
            <a:ext cx="6217920" cy="2072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3840000"/>
            <a:ext cx="62179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words, JalSuraksha is a smart tool that helps people monitor groundwater, predict water levels, identify water-related risks, and make better decisions to save water.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182880" y="5486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8046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Groundwater is under pressure from heavy extraction and changing rainfall, while people lack timely, local information to act on. JalSuraksha addresses this with AI and data analysis.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1530000"/>
            <a:ext cx="5029200" cy="29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withdraws about 245 billion m³ of groundwater a year; over 17% of assessment units are Over-Exploited.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 of irrigated cropland and 85% of rural drinking water depend on aquifers.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Rainfall changes make water availability difficult to predict.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Water-quality problems (fluoride, arsenic, nitrate) affect health and agriculture.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is sparse and largely manual, so clear groundwater information is hard to get.</a:t>
            </a:r>
            <a:endParaRPr lang="en-US" sz="1150" dirty="0"/>
          </a:p>
        </p:txBody>
      </p:sp>
      <p:pic>
        <p:nvPicPr>
          <p:cNvPr id="5" name="SVG Diagram 3" descr="Groundwater Stress Diagram"/>
          <p:cNvPicPr>
            <a:picLocks noChangeAspect="1"/>
          </p:cNvPicPr>
          <p:nvPr/>
        </p:nvPicPr>
        <p:blipFill>
          <a:blip r:embed="rId1">
            <a:extLst>
              <a:ext uri="{96DAC542-7B16-430E-8262-CEDBF546BC51}">
                <asvg:svgBlip xmlns:asvg="http://schemas.microsoft.com/office/drawing/2016/svg/main" r:embed="rIdSVG"/>
              </a:ext>
            </a:extLst>
          </a:blip>
          <a:stretch>
            <a:fillRect/>
          </a:stretch>
        </p:blipFill>
        <p:spPr>
          <a:xfrm>
            <a:off x="5669280" y="804672"/>
            <a:ext cx="3200400" cy="20502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2960000"/>
            <a:ext cx="3200400" cy="920000"/>
          </a:xfrm>
          <a:prstGeom prst="roundRect">
            <a:avLst>
              <a:gd name="adj" fmla="val 8421"/>
            </a:avLst>
          </a:prstGeom>
          <a:solidFill>
            <a:srgbClr val="EEF5F3"/>
          </a:solidFill>
          <a:ln w="9525">
            <a:solidFill>
              <a:srgbClr val="C9DD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06440" y="3020000"/>
            <a:ext cx="292608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B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Slow, sparse analysis delays local planning and makes it harder to choose effective water-management actions.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182880" y="5486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82296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JalSuraksha provides an integrated platform for groundwater intelligence and water-resource decision support, working in five steps: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Monitor: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groundwater, rainfall, and water-quality data.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Analyze: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groundwater trends and water-stress conditions.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Predict: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groundwater levels with ML models (Ridge, Gradient Boosting, Random Forest).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Recommend: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recharge and water-conservation interventions using the HG-CF recommender.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with dashboards, district comparison, what-if simulation, and exportable reports.</a:t>
            </a:r>
            <a:endParaRPr lang="en-US" sz="1100" dirty="0"/>
          </a:p>
        </p:txBody>
      </p:sp>
      <p:pic>
        <p:nvPicPr>
          <p:cNvPr id="4" name="Image 0" descr="a/pl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280160"/>
            <a:ext cx="3657600" cy="23500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182880" y="5486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777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modular architecture converts raw water-related data into useful insights.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109728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CGWB, IMD, India-WRIS, CWC, and IoT sensors.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&amp; Validation: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Cleaning, missing-value handling, and feature engineering.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Engine: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forecast groundwater levels; SHAP explains them.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Analysis: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Water-stress score and groundwater risk classes.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Engine: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Recharge and conservation options.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Application: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UI and Super Intelligence Lab with FastAPI services.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Support: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users plan suitable interventions.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0" y="822960"/>
            <a:ext cx="2011680" cy="402336"/>
          </a:xfrm>
          <a:prstGeom prst="rect">
            <a:avLst/>
          </a:prstGeom>
          <a:solidFill>
            <a:srgbClr val="F4EFF8"/>
          </a:solidFill>
          <a:ln w="9525">
            <a:solidFill>
              <a:srgbClr val="7A62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0" y="8229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Sources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CGWB, IMD, India-WRIS, CWC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675120" y="1225296"/>
            <a:ext cx="0" cy="132588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69280" y="1357884"/>
            <a:ext cx="2011680" cy="402336"/>
          </a:xfrm>
          <a:prstGeom prst="rect">
            <a:avLst/>
          </a:prstGeom>
          <a:solidFill>
            <a:srgbClr val="F4EFF8"/>
          </a:solidFill>
          <a:ln w="9525">
            <a:solidFill>
              <a:srgbClr val="7A62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13578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Pipelines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0" y="1760220"/>
            <a:ext cx="0" cy="132588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69280" y="1892808"/>
            <a:ext cx="2011680" cy="402336"/>
          </a:xfrm>
          <a:prstGeom prst="rect">
            <a:avLst/>
          </a:prstGeom>
          <a:solidFill>
            <a:srgbClr val="F4EFF8"/>
          </a:solidFill>
          <a:ln w="9525">
            <a:solidFill>
              <a:srgbClr val="7A62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0" y="189280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&amp; Validation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675120" y="2295144"/>
            <a:ext cx="0" cy="132588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69280" y="2427732"/>
            <a:ext cx="2011680" cy="402336"/>
          </a:xfrm>
          <a:prstGeom prst="rect">
            <a:avLst/>
          </a:prstGeom>
          <a:solidFill>
            <a:srgbClr val="F4EFF8"/>
          </a:solidFill>
          <a:ln w="9525">
            <a:solidFill>
              <a:srgbClr val="7A62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0" y="24277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675120" y="2830068"/>
            <a:ext cx="0" cy="132588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0" y="2962656"/>
            <a:ext cx="2011680" cy="402336"/>
          </a:xfrm>
          <a:prstGeom prst="rect">
            <a:avLst/>
          </a:prstGeom>
          <a:solidFill>
            <a:srgbClr val="F4EFF8"/>
          </a:solidFill>
          <a:ln w="9525">
            <a:solidFill>
              <a:srgbClr val="7A62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29626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Serialized Artifacts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75120" y="3364992"/>
            <a:ext cx="0" cy="132588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69280" y="3497580"/>
            <a:ext cx="2011680" cy="402336"/>
          </a:xfrm>
          <a:prstGeom prst="rect">
            <a:avLst/>
          </a:prstGeom>
          <a:solidFill>
            <a:srgbClr val="F4EFF8"/>
          </a:solidFill>
          <a:ln w="9525">
            <a:solidFill>
              <a:srgbClr val="7A62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34975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&amp; Flask Backend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75120" y="3899916"/>
            <a:ext cx="0" cy="132588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669280" y="4032504"/>
            <a:ext cx="2011680" cy="402336"/>
          </a:xfrm>
          <a:prstGeom prst="rect">
            <a:avLst/>
          </a:prstGeom>
          <a:solidFill>
            <a:srgbClr val="F4EFF8"/>
          </a:solidFill>
          <a:ln w="9525">
            <a:solidFill>
              <a:srgbClr val="7A62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0" y="40325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Web UI &amp; Super Intelligence Lab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909560" y="3401568"/>
            <a:ext cx="1051560" cy="457200"/>
          </a:xfrm>
          <a:prstGeom prst="rect">
            <a:avLst/>
          </a:prstGeom>
          <a:solidFill>
            <a:srgbClr val="F4EFF8"/>
          </a:solidFill>
          <a:ln w="9525">
            <a:solidFill>
              <a:srgbClr val="7A62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09560" y="340156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IoT Telemetry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sensors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909560" y="3931920"/>
            <a:ext cx="1051560" cy="365760"/>
          </a:xfrm>
          <a:prstGeom prst="rect">
            <a:avLst/>
          </a:prstGeom>
          <a:solidFill>
            <a:srgbClr val="F4EFF8"/>
          </a:solidFill>
          <a:ln w="9525">
            <a:solidFill>
              <a:srgbClr val="7A62A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09560" y="3931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User Store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 flipH="1">
            <a:off x="7680960" y="3630168"/>
            <a:ext cx="228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7680960" y="4114800"/>
            <a:ext cx="22860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182880" y="5486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77240"/>
          <a:ext cx="8686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943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9D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9D6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for AI, machine learning, and data analysis.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F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7E0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the main web application and Super Intelligence Lab.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7E0E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FastAPI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Provides async APIs for data and analysis.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F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SQLAlchemy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7E0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Connects Python with the database.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7E0E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TimescaleDB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Stores groundwater data over time.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F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Pandas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7E0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Cleans and processes datasets.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7E0E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Scikit-learn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Builds and tests ML models.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F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 Regression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7E0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forecaster in testing (MAE 3.85 m).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7E0E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Boosting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Tree-based groundwater-level forecasting.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F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7E0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Predicts levels using multiple decision trees.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7E0E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Gensim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LDA topic modeling of hydrogeological reports.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F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7E0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Explains factors behind model predictions.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7E0E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JupyterLab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notebooks for experiments and model development.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F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HTML, CSS, JavaScript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7E0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to create the web interface.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7E0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182880" y="5486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used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804672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JalSuraksha combines information from multiple public water-related sources: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CGWB: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groundwater depth data from monitoring wells.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rainfall and weather information.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India-WRIS: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water-resources information for analysis and planning.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CWC: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reservoir and river-gauge information.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(BIS 10500):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pH, EC, TDS, fluoride, arsenic, and nitrate, where available.</a:t>
            </a:r>
            <a:endParaRPr lang="en-US" sz="1050" dirty="0"/>
          </a:p>
        </p:txBody>
      </p:sp>
      <p:pic>
        <p:nvPicPr>
          <p:cNvPr id="4" name="Image 0" descr="a/t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868680"/>
            <a:ext cx="2377440" cy="14813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74320" y="3017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preparation process: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273552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available datasets.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data quality and missing values.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formats and relevant features.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time-based and location-based records.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prepared data for model training, testing, and analysis.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26280" y="3154680"/>
            <a:ext cx="1389888" cy="1188720"/>
          </a:xfrm>
          <a:prstGeom prst="roundRect">
            <a:avLst>
              <a:gd name="adj" fmla="val 7692"/>
            </a:avLst>
          </a:prstGeom>
          <a:solidFill>
            <a:srgbClr val="F3F7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17720" y="3246120"/>
            <a:ext cx="1207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CGWB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Groundwater depth observations from monitoring networks.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07608" y="3154680"/>
            <a:ext cx="1389888" cy="1188720"/>
          </a:xfrm>
          <a:prstGeom prst="roundRect">
            <a:avLst>
              <a:gd name="adj" fmla="val 7692"/>
            </a:avLst>
          </a:prstGeom>
          <a:solidFill>
            <a:srgbClr val="F3F7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99048" y="3246120"/>
            <a:ext cx="1207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Rainfall and rainfall-departure information.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488936" y="3154680"/>
            <a:ext cx="1389888" cy="1188720"/>
          </a:xfrm>
          <a:prstGeom prst="roundRect">
            <a:avLst>
              <a:gd name="adj" fmla="val 7692"/>
            </a:avLst>
          </a:prstGeom>
          <a:solidFill>
            <a:srgbClr val="F3F7FB"/>
          </a:solidFill>
          <a:ln w="9525">
            <a:solidFill>
              <a:srgbClr val="D3DE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0376" y="3246120"/>
            <a:ext cx="1207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India-WRIS &amp; CWC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 basin, reservoir and gauge-discharge information.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182880" y="5486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Diagram</a:t>
            </a:r>
            <a:endParaRPr lang="en-US" sz="1600" dirty="0"/>
          </a:p>
        </p:txBody>
      </p:sp>
      <p:pic>
        <p:nvPicPr>
          <p:cNvPr id="3" name="Image 0" descr="a/ct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822960"/>
            <a:ext cx="7315200" cy="36393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182880" y="5486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Relationship Diagram (ERD)</a:t>
            </a:r>
            <a:endParaRPr lang="en-US" sz="1600" dirty="0"/>
          </a:p>
        </p:txBody>
      </p:sp>
      <p:pic>
        <p:nvPicPr>
          <p:cNvPr id="3" name="Image 0" descr="a/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804672"/>
            <a:ext cx="7223760" cy="36758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182880" y="5486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Modules &amp; Key Features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20040" y="841248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BF4F4"/>
          </a:solidFill>
          <a:ln w="9525">
            <a:solidFill>
              <a:srgbClr val="DDBD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50976"/>
            <a:ext cx="54864" cy="694944"/>
          </a:xfrm>
          <a:prstGeom prst="rect">
            <a:avLst/>
          </a:prstGeom>
          <a:solidFill>
            <a:srgbClr val="7B1616"/>
          </a:solidFill>
          <a:ln w="12700">
            <a:solidFill>
              <a:srgbClr val="7B16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4632" y="93268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B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Atlas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States/UTs, district boundaries, 2000–2035 timeline playback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841248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BF4F4"/>
          </a:solidFill>
          <a:ln w="9525">
            <a:solidFill>
              <a:srgbClr val="DDBD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950976"/>
            <a:ext cx="54864" cy="694944"/>
          </a:xfrm>
          <a:prstGeom prst="rect">
            <a:avLst/>
          </a:prstGeom>
          <a:solidFill>
            <a:srgbClr val="7B1616"/>
          </a:solidFill>
          <a:ln w="12700">
            <a:solidFill>
              <a:srgbClr val="7B16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64992" y="93268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B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Water Metrics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Groundwater depth plus BIS 10500 quality, with data provenance labels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841248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BF4F4"/>
          </a:solidFill>
          <a:ln w="9525">
            <a:solidFill>
              <a:srgbClr val="DDBD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950976"/>
            <a:ext cx="54864" cy="694944"/>
          </a:xfrm>
          <a:prstGeom prst="rect">
            <a:avLst/>
          </a:prstGeom>
          <a:solidFill>
            <a:srgbClr val="7B1616"/>
          </a:solidFill>
          <a:ln w="12700">
            <a:solidFill>
              <a:srgbClr val="7B16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45352" y="93268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B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Forecaster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Multi-horizon forecasts (random forest, gradient boosting, ridge)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8745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BF4F4"/>
          </a:solidFill>
          <a:ln w="9525">
            <a:solidFill>
              <a:srgbClr val="D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984248"/>
            <a:ext cx="54864" cy="694944"/>
          </a:xfrm>
          <a:prstGeom prst="rect">
            <a:avLst/>
          </a:prstGeom>
          <a:solidFill>
            <a:srgbClr val="7B1616"/>
          </a:solidFill>
          <a:ln w="12700">
            <a:solidFill>
              <a:srgbClr val="7B16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" y="19659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B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HG-CF Recommender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Hydro-geological intervention recommendations for data-sparse blocks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8745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BF4F4"/>
          </a:solidFill>
          <a:ln w="9525">
            <a:solidFill>
              <a:srgbClr val="D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984248"/>
            <a:ext cx="54864" cy="694944"/>
          </a:xfrm>
          <a:prstGeom prst="rect">
            <a:avLst/>
          </a:prstGeom>
          <a:solidFill>
            <a:srgbClr val="7B1616"/>
          </a:solidFill>
          <a:ln w="12700">
            <a:solidFill>
              <a:srgbClr val="7B16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64992" y="19659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B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 Literature Miner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 from CGWB reports and citizen grievances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18745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BF4F4"/>
          </a:solidFill>
          <a:ln w="9525">
            <a:solidFill>
              <a:srgbClr val="D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1984248"/>
            <a:ext cx="54864" cy="694944"/>
          </a:xfrm>
          <a:prstGeom prst="rect">
            <a:avLst/>
          </a:prstGeom>
          <a:solidFill>
            <a:srgbClr val="7B1616"/>
          </a:solidFill>
          <a:ln w="12700">
            <a:solidFill>
              <a:srgbClr val="7B161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45352" y="19659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B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Balance Audit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GEC-2015 recharge, extraction, and net deficit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907792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BF4F4"/>
          </a:solidFill>
          <a:ln w="9525">
            <a:solidFill>
              <a:srgbClr val="DDBD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017520"/>
            <a:ext cx="54864" cy="694944"/>
          </a:xfrm>
          <a:prstGeom prst="rect">
            <a:avLst/>
          </a:prstGeom>
          <a:solidFill>
            <a:srgbClr val="7B1616"/>
          </a:solidFill>
          <a:ln w="12700">
            <a:solidFill>
              <a:srgbClr val="7B161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" y="299923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B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Recharge Sizing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dams, percolation ponds, injection wells, recharge shafts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907792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BF4F4"/>
          </a:solidFill>
          <a:ln w="9525">
            <a:solidFill>
              <a:srgbClr val="DDBD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3017520"/>
            <a:ext cx="54864" cy="694944"/>
          </a:xfrm>
          <a:prstGeom prst="rect">
            <a:avLst/>
          </a:prstGeom>
          <a:solidFill>
            <a:srgbClr val="7B1616"/>
          </a:solidFill>
          <a:ln w="12700">
            <a:solidFill>
              <a:srgbClr val="7B161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64992" y="299923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B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Optimizer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Knapsack allocation of interventions under capital ceilings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2907792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BF4F4"/>
          </a:solidFill>
          <a:ln w="9525">
            <a:solidFill>
              <a:srgbClr val="DDBDB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3017520"/>
            <a:ext cx="54864" cy="694944"/>
          </a:xfrm>
          <a:prstGeom prst="rect">
            <a:avLst/>
          </a:prstGeom>
          <a:solidFill>
            <a:srgbClr val="7B1616"/>
          </a:solidFill>
          <a:ln w="12700">
            <a:solidFill>
              <a:srgbClr val="7B161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45352" y="299923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B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Simulator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Extraction, rainfall, and recharge stress testing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20040" y="40233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included: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rooftop rainwater harvesting sizing, crop-shift advisory, NRW leakage audit, borewell failure portal, 75-district comparison with CSV export, and IoT sensor ingestion.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182880" y="5486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Screenshots</a:t>
            </a:r>
            <a:endParaRPr lang="en-US" sz="1600" dirty="0"/>
          </a:p>
        </p:txBody>
      </p:sp>
      <p:pic>
        <p:nvPicPr>
          <p:cNvPr id="3" name="Image 0" descr="a/dashboard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22960"/>
            <a:ext cx="5394960" cy="3035808"/>
          </a:xfrm>
          <a:prstGeom prst="rect">
            <a:avLst/>
          </a:prstGeom>
        </p:spPr>
      </p:pic>
      <p:pic>
        <p:nvPicPr>
          <p:cNvPr id="4" name="Image 1" descr="a/super_intelligence_lab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822960"/>
            <a:ext cx="3108960" cy="1746504"/>
          </a:xfrm>
          <a:prstGeom prst="rect">
            <a:avLst/>
          </a:prstGeom>
        </p:spPr>
      </p:pic>
      <p:pic>
        <p:nvPicPr>
          <p:cNvPr id="5" name="Image 2" descr="a/maharashtra_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697480"/>
            <a:ext cx="3108960" cy="174650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228600" y="39502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map canvas and intelligence dashboard: district choropleth, aquifer risk classes, 2000–2035 timeline.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182880" y="5486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</a:t>
            </a:r>
            <a:endParaRPr lang="en-US" sz="1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28600" y="777240"/>
          <a:ext cx="5120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577840" y="86868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BF4F4"/>
          </a:solidFill>
          <a:ln w="9525">
            <a:solidFill>
              <a:srgbClr val="DDBDB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0" y="9601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3.85 m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903720" y="9601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forecast MAE (Ridge), vs 29.85 m for naive persistence; RMSE 4.35 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577840" y="210312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BF4F4"/>
          </a:solidFill>
          <a:ln w="9525">
            <a:solidFill>
              <a:srgbClr val="DDBDB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0" y="21945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0.437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2194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HG-CF recommender NDCG@5 (Precision@5 0.197, MAE 0.123) on 118 held-out pairs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33375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BF4F4"/>
          </a:solidFill>
          <a:ln w="9525">
            <a:solidFill>
              <a:srgbClr val="DDBDB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0" y="34290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5.17 m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903720" y="3429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geographic MAE (Agra, Patna, Meerut; 9 samples, R² 0.127) — more data needed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182880" y="5486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822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B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118872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 a working, tested platform (101 unit tests) covering 36 States/UTs and 700+ districts.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forecasts cut error from 29.85 m (naive) to about 3.85 m MAE.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HG-CF recommends interventions even where local data is sparse.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Dashboards, simulators, and reports turn public data into decisions.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822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B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18872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on more districts and states beyond the 3-district hold-out.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sequence models (e.g., LSTM) for longer-horizon forecasts.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live IoT piezometer feeds from ESP32 sensors.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Wider live data connectors and multilingual, accessible interfaces.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0" cy="3383280"/>
          </a:xfrm>
          <a:prstGeom prst="line">
            <a:avLst/>
          </a:prstGeom>
          <a:noFill/>
          <a:ln w="12700">
            <a:solidFill>
              <a:srgbClr val="DDBDB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550000"/>
            <a:ext cx="73152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B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429000" y="1200000"/>
            <a:ext cx="2286000" cy="8000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50000"/>
            <a:ext cx="73152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JalSuraksha: AI-Powered Groundwater Intelligence System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720000"/>
            <a:ext cx="73152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 | Open for Discussion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150000"/>
            <a:ext cx="27432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Guide: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Ajay Rastogi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2100000"/>
            <a:ext cx="292608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Team: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 Khan (TCA2366003)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Mohd Shami (TCA2366017)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Firoj (TCA2366010)</a:t>
            </a:r>
            <a:endParaRPr lang="en-US" sz="1200" dirty="0"/>
          </a:p>
        </p:txBody>
      </p:sp>
      <p:pic>
        <p:nvPicPr>
          <p:cNvPr id="8" name="Image 0" descr="a/logo_tit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950000"/>
            <a:ext cx="914400" cy="822960"/>
          </a:xfrm>
          <a:prstGeom prst="rect">
            <a:avLst/>
          </a:prstGeom>
        </p:spPr>
      </p:pic>
      <p:sp>
        <p:nvSpPr>
          <p:cNvPr id="9" name="Text 8"/>
          <p:cNvSpPr txBox="1"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COMPUTING SCIENCES AND 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TEERTHANKER MAHAVEER UNIVERSITY, MORADABAD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lSuraksha TMU">
  <a:themeElements>
    <a:clrScheme name="JalSuraksha TMU">
      <a:dk1>
        <a:srgbClr val="1A1A1A"/>
      </a:dk1>
      <a:lt1>
        <a:srgbClr val="FFFFFF"/>
      </a:lt1>
      <a:dk2>
        <a:srgbClr val="7B1616"/>
      </a:dk2>
      <a:lt2>
        <a:srgbClr val="F7F1F1"/>
      </a:lt2>
      <a:accent1>
        <a:srgbClr val="7B1616"/>
      </a:accent1>
      <a:accent2>
        <a:srgbClr val="C0504D"/>
      </a:accent2>
      <a:accent3>
        <a:srgbClr val="1F5F8B"/>
      </a:accent3>
      <a:accent4>
        <a:srgbClr val="248653"/>
      </a:accent4>
      <a:accent5>
        <a:srgbClr val="E88B2A"/>
      </a:accent5>
      <a:accent6>
        <a:srgbClr val="9A9A9A"/>
      </a:accent6>
      <a:hlink>
        <a:srgbClr val="1F5F8B"/>
      </a:hlink>
      <a:folHlink>
        <a:srgbClr val="7B1616"/>
      </a:folHlink>
    </a:clrScheme>
    <a:fontScheme name="JalSuraksha TMU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0</ns0:Words>
  <ns0:Application>Microsoft Office PowerPoint</ns0:Application>
  <ns0:PresentationFormat>On-screen Show (16:9)</ns0:PresentationFormat>
  <ns0:Paragraphs>0</ns0:Paragraphs>
  <ns0:Slides>14</ns0:Slides>
  <ns0:Notes>13</ns0:Notes>
  <ns0:HiddenSlides>0</ns0:HiddenSlides>
  <ns0:MMClips>0</ns0:MMClips>
  <ns0:ScaleCrop>false</ns0:ScaleCrop>
  <ns0:HeadingPairs>
    <ns1:vector size="7" baseType="variant">
      <ns1:variant>
        <ns1:lpstr>Fonts Used</ns1:lpstr>
      </ns1:variant>
      <ns1:variant>
        <ns1:i4>2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13</ns1:i4>
      </ns1:variant>
      <ns1:lpstr>Slide 14</ns1:lpstr>
    </ns1:vector>
  </ns0:HeadingPairs>
  <ns0:TitlesOfParts>
    <ns1:vector size="16" baseType="lpstr">
      <ns1:lpstr>Arial</ns1:lpstr>
      <ns1:lpstr>Calibri</ns1:lpstr>
      <ns1:lpstr>Office Theme</ns1:lpstr>
      <ns1:lpstr>Slide 1</ns1:lpstr>
      <ns1:lpstr>Slide 2</ns1:lpstr>
      <ns1:lpstr>Slide 3</ns1:lpstr>
      <ns1:lpstr>Slide 4</ns1:lpstr>
      <ns1:lpstr>Slide 5</ns1:lpstr>
      <ns1:lpstr>Slide 6</ns1:lpstr>
      <ns1:lpstr>Slide 7</ns1:lpstr>
      <ns1:lpstr>Slide 8</ns1:lpstr>
      <ns1:lpstr>Slide 9</ns1:lpstr>
      <ns1:lpstr>Slide 10</ns1:lpstr>
      <ns1:lpstr>Slide 11</ns1:lpstr>
      <ns1:lpstr>Slide 12</ns1:lpstr>
      <ns1:lpstr>Slide 13</ns1:lpstr>
    </ns1:vector>
  </ns0:TitlesOfParts>
  <ns0:Company>PptxGenJS</ns0:Company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JalSuraksha final ppt</dc:title>
  <dc:subject>PptxGenJS Presentation</dc:subject>
  <dc:creator>Mohd Shami</dc:creator>
  <cp:lastModifiedBy>Mohd Shami</cp:lastModifiedBy>
  <cp:revision>1</cp:revision>
  <dcterms:created xsi:type="dcterms:W3CDTF">2026-10-27T05:38:06Z</dcterms:created>
  <dcterms:modified xsi:type="dcterms:W3CDTF">2026-10-27T05:38:06Z</dcterms:modified>
</cp:coreProperties>
</file>